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26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0413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941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93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8667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953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993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162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827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03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012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56730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5053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96869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4497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873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087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9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8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4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1563" y="1030960"/>
            <a:ext cx="5715000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974" b="1" kern="0" spc="-2" dirty="0">
                <a:solidFill>
                  <a:srgbClr val="000000"/>
                </a:solidFill>
              </a:rPr>
              <a:t>Personal &amp; Professional Project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1071563" y="3368362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333333"/>
                </a:solidFill>
              </a:rPr>
              <a:t>Architecting the Future of Digital Trust: The Creative Engineer's Manifesto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 rot="-120000">
            <a:off x="6747178" y="2388782"/>
            <a:ext cx="2500313" cy="2282428"/>
          </a:xfrm>
          <a:prstGeom prst="rect">
            <a:avLst/>
          </a:prstGeom>
          <a:solidFill>
            <a:srgbClr val="00CC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 rot="-120000">
            <a:off x="6799722" y="2540760"/>
            <a:ext cx="2500313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Presented by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 rot="-120000">
            <a:off x="6747179" y="2804217"/>
            <a:ext cx="2500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Aymen Nadi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 rot="-120000">
            <a:off x="6822280" y="3371109"/>
            <a:ext cx="2500313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Affiliation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 rot="-120000">
            <a:off x="6822750" y="3927217"/>
            <a:ext cx="2500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ENSEEIHT / ENSIAS</a:t>
            </a:r>
            <a:endParaRPr lang="en-US" sz="180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My IKIGAI: The Nexus of Purpose and Impact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5" y="1508126"/>
            <a:ext cx="3721209" cy="33167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9063" y="1441893"/>
            <a:ext cx="4786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The IKIGAI framework provides the blueprint for a sustainable and high-impact career, aligning personal drive with the critical needs of the cybersecurity landscape.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3939778" y="2489792"/>
            <a:ext cx="1307306" cy="32861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3"/>
          <p:cNvSpPr/>
          <p:nvPr/>
        </p:nvSpPr>
        <p:spPr>
          <a:xfrm>
            <a:off x="5225653" y="2489792"/>
            <a:ext cx="21431" cy="32861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3939778" y="2489792"/>
            <a:ext cx="1307306" cy="32861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Dimension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5247084" y="2489792"/>
            <a:ext cx="3457575" cy="328613"/>
          </a:xfrm>
          <a:prstGeom prst="rect">
            <a:avLst/>
          </a:prstGeom>
          <a:solidFill>
            <a:srgbClr val="00CCFF"/>
          </a:solidFill>
          <a:ln/>
        </p:spPr>
      </p:sp>
      <p:sp>
        <p:nvSpPr>
          <p:cNvPr id="10" name="Shape 6"/>
          <p:cNvSpPr/>
          <p:nvPr/>
        </p:nvSpPr>
        <p:spPr>
          <a:xfrm>
            <a:off x="8683228" y="2489792"/>
            <a:ext cx="21431" cy="32861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5247084" y="2489792"/>
            <a:ext cx="3457575" cy="32861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Professional Alignment</a:t>
            </a:r>
            <a:endParaRPr lang="en-US" sz="885" dirty="0"/>
          </a:p>
        </p:txBody>
      </p:sp>
      <p:sp>
        <p:nvSpPr>
          <p:cNvPr id="12" name="Shape 8"/>
          <p:cNvSpPr/>
          <p:nvPr/>
        </p:nvSpPr>
        <p:spPr>
          <a:xfrm>
            <a:off x="3939778" y="2818405"/>
            <a:ext cx="1307306" cy="5264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9"/>
          <p:cNvSpPr/>
          <p:nvPr/>
        </p:nvSpPr>
        <p:spPr>
          <a:xfrm>
            <a:off x="5225653" y="2818405"/>
            <a:ext cx="21431" cy="52646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0"/>
          <p:cNvSpPr/>
          <p:nvPr/>
        </p:nvSpPr>
        <p:spPr>
          <a:xfrm>
            <a:off x="3939778" y="3337722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1"/>
          <p:cNvSpPr/>
          <p:nvPr/>
        </p:nvSpPr>
        <p:spPr>
          <a:xfrm>
            <a:off x="3939778" y="2818405"/>
            <a:ext cx="1307306" cy="526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Passion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247084" y="2818405"/>
            <a:ext cx="3457575" cy="526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Solving complex architectural challenges and automating security processes.</a:t>
            </a:r>
            <a:endParaRPr lang="en-US" sz="942" dirty="0"/>
          </a:p>
        </p:txBody>
      </p:sp>
      <p:sp>
        <p:nvSpPr>
          <p:cNvPr id="17" name="Shape 13"/>
          <p:cNvSpPr/>
          <p:nvPr/>
        </p:nvSpPr>
        <p:spPr>
          <a:xfrm>
            <a:off x="3939778" y="3344866"/>
            <a:ext cx="1307306" cy="53003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Shape 14"/>
          <p:cNvSpPr/>
          <p:nvPr/>
        </p:nvSpPr>
        <p:spPr>
          <a:xfrm>
            <a:off x="5225653" y="3344866"/>
            <a:ext cx="21431" cy="5300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5"/>
          <p:cNvSpPr/>
          <p:nvPr/>
        </p:nvSpPr>
        <p:spPr>
          <a:xfrm>
            <a:off x="3939778" y="3867755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6"/>
          <p:cNvSpPr/>
          <p:nvPr/>
        </p:nvSpPr>
        <p:spPr>
          <a:xfrm>
            <a:off x="3939778" y="3344866"/>
            <a:ext cx="1307306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Expertise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5247084" y="3344866"/>
            <a:ext cx="3457575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Mastery of Cloud (AWS), DevSecOps methodologies, and Governance (GRC).</a:t>
            </a:r>
            <a:endParaRPr lang="en-US" sz="942" dirty="0"/>
          </a:p>
        </p:txBody>
      </p:sp>
      <p:sp>
        <p:nvSpPr>
          <p:cNvPr id="22" name="Shape 18"/>
          <p:cNvSpPr/>
          <p:nvPr/>
        </p:nvSpPr>
        <p:spPr>
          <a:xfrm>
            <a:off x="3939778" y="3874898"/>
            <a:ext cx="1307306" cy="53003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Shape 19"/>
          <p:cNvSpPr/>
          <p:nvPr/>
        </p:nvSpPr>
        <p:spPr>
          <a:xfrm>
            <a:off x="5225653" y="3874898"/>
            <a:ext cx="21431" cy="5300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0"/>
          <p:cNvSpPr/>
          <p:nvPr/>
        </p:nvSpPr>
        <p:spPr>
          <a:xfrm>
            <a:off x="3939778" y="4397787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1"/>
          <p:cNvSpPr/>
          <p:nvPr/>
        </p:nvSpPr>
        <p:spPr>
          <a:xfrm>
            <a:off x="3939778" y="3874898"/>
            <a:ext cx="1307306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World's Need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5247084" y="3874898"/>
            <a:ext cx="3457575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Resilient digital infrastructures and automated compliance against evolving threats.</a:t>
            </a:r>
            <a:endParaRPr lang="en-US" sz="942" dirty="0"/>
          </a:p>
        </p:txBody>
      </p:sp>
      <p:sp>
        <p:nvSpPr>
          <p:cNvPr id="27" name="Shape 23"/>
          <p:cNvSpPr/>
          <p:nvPr/>
        </p:nvSpPr>
        <p:spPr>
          <a:xfrm>
            <a:off x="3939778" y="4404931"/>
            <a:ext cx="1307306" cy="537177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Shape 24"/>
          <p:cNvSpPr/>
          <p:nvPr/>
        </p:nvSpPr>
        <p:spPr>
          <a:xfrm>
            <a:off x="5225653" y="4404931"/>
            <a:ext cx="21431" cy="5371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3939778" y="4404931"/>
            <a:ext cx="1307306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Vocation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5236369" y="4404931"/>
            <a:ext cx="3468291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Cloud Security Architect driving high-value, trust-by-design ecosystems.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Design Thinking: The Iterative Career Blueprint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07219" y="1727643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Empathize &amp; Define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07219" y="2129479"/>
            <a:ext cx="38790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Deep understanding of regulatory challenges (GDPR, NIS2) and defining the critical need for bridging technical implementation with governance strategy.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07219" y="2869555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Ideate &amp; Prototype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07219" y="3271391"/>
            <a:ext cx="38790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Exploring diverse career paths and validating them through certifications (AWS, CCNA) and hands-on projects (Secure CI/CD Pipeline).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7219" y="4011467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Test &amp; Iterate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07219" y="4413303"/>
            <a:ext cx="38790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Real-world application of skills during the OCP SAFI internship, refining my professional vision against industrial reality.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 rot="120000">
            <a:off x="5079206" y="1691924"/>
            <a:ext cx="3214688" cy="1005819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20000">
            <a:off x="4914900" y="1527618"/>
            <a:ext cx="3543299" cy="133443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"Design Thinking is the strategy for building an agile and resilient career, not just a product."</a:t>
            </a:r>
            <a:endParaRPr lang="en-US" sz="160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8" y="2962061"/>
            <a:ext cx="3286125" cy="1643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Odyssey Plan A: Cloud Security Architect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70468"/>
            <a:ext cx="2619384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781" y="1720500"/>
            <a:ext cx="23669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Years 1 - 2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35781" y="2086617"/>
            <a:ext cx="236695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Specialization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35781" y="2389501"/>
            <a:ext cx="2366953" cy="482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Complete double degree (ENSEEIHT/ENSIAS) and take a solid foundations about systems and networks.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3224203" y="1470468"/>
            <a:ext cx="2638416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0419" y="1720500"/>
            <a:ext cx="2386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Years 3 - 4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350419" y="2086617"/>
            <a:ext cx="23860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Technical Mastery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350419" y="2389501"/>
            <a:ext cx="2386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Cloud Security Engineer role, focusing on large-scale Zero Trust architecture deployment.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6057900" y="1470468"/>
            <a:ext cx="2657475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03175" y="1720500"/>
            <a:ext cx="24050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 5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203175" y="2086617"/>
            <a:ext cx="240507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Strategic Leadership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203175" y="2389501"/>
            <a:ext cx="240507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Transition to Senior Architect, leading international cloud security transformation projects.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3376733"/>
            <a:ext cx="4714875" cy="1438015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3648196"/>
            <a:ext cx="10863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0055"/>
                </a:solidFill>
              </a:rPr>
              <a:t>Success Metric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4066105"/>
            <a:ext cx="4429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AWS Security Specialty Certification and technical leadership on critical infrastructure projects.</a:t>
            </a:r>
            <a:endParaRPr lang="en-US" sz="109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3376733"/>
            <a:ext cx="3286125" cy="1500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66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92969" cy="5596682"/>
          </a:xfrm>
          <a:prstGeom prst="rect">
            <a:avLst/>
          </a:prstGeom>
          <a:solidFill>
            <a:srgbClr val="00CCFF"/>
          </a:solidFill>
          <a:ln/>
        </p:spPr>
      </p:sp>
      <p:sp>
        <p:nvSpPr>
          <p:cNvPr id="4" name="Shape 1"/>
          <p:cNvSpPr/>
          <p:nvPr/>
        </p:nvSpPr>
        <p:spPr>
          <a:xfrm>
            <a:off x="857250" y="0"/>
            <a:ext cx="35719" cy="559668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 rot="-5400000">
            <a:off x="-715240" y="2409006"/>
            <a:ext cx="228773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4" dirty="0">
                <a:solidFill>
                  <a:srgbClr val="000000"/>
                </a:solidFill>
              </a:rPr>
              <a:t>PLAN B</a:t>
            </a:r>
            <a:endParaRPr lang="en-US" sz="4145" dirty="0"/>
          </a:p>
        </p:txBody>
      </p:sp>
      <p:sp>
        <p:nvSpPr>
          <p:cNvPr id="6" name="Text 3"/>
          <p:cNvSpPr/>
          <p:nvPr/>
        </p:nvSpPr>
        <p:spPr>
          <a:xfrm>
            <a:off x="1285875" y="658341"/>
            <a:ext cx="7429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GRC &amp; Cloud Compliance Specialist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1285875" y="1286991"/>
            <a:ext cx="3714750" cy="1692287"/>
          </a:xfrm>
          <a:prstGeom prst="rect">
            <a:avLst/>
          </a:prstGeom>
          <a:solidFill>
            <a:srgbClr val="000000"/>
          </a:solidFill>
          <a:ln w="36576">
            <a:solidFill>
              <a:srgbClr val="00C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4469" y="1594172"/>
            <a:ext cx="33575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CCFF"/>
                </a:solidFill>
              </a:rPr>
              <a:t>Strategic Vision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464469" y="194064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Securing digital trust through risk mastery and automated compliance orchestration.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428750" y="3122154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Compliance-as-Code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1428750" y="3450766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Transforming tedious manual audits into real-time monitoring systems for continuous security assurance.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428750" y="3927946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NIST &amp; ISO 27001 Mastery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1428750" y="4256559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Targeting highly regulated sectors where data sovereignty and international standards are non-negotiable.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1428750" y="4733739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Strategic Advantage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428750" y="5062351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Turning regulatory requirements into a competitive lever for organizational resilience and trust.</a:t>
            </a:r>
            <a:endParaRPr lang="en-US" sz="834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7" y="1156171"/>
            <a:ext cx="3500438" cy="23574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6375" y="3744441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000000"/>
                </a:solidFill>
              </a:rPr>
              <a:t>Critical components of a compliant Cloud Security Architecture.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76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Odyssey Plan C: DevSecOps Innovation Lead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270443"/>
            <a:ext cx="4000500" cy="2518144"/>
          </a:xfrm>
          <a:prstGeom prst="rect">
            <a:avLst/>
          </a:prstGeom>
          <a:solidFill>
            <a:srgbClr val="00CCFF"/>
          </a:solidFill>
          <a:ln w="36576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613343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Future-Forward Vision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42938" y="2016965"/>
            <a:ext cx="3571875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Pioneering security integration at the core of the software lifecycle through radical automation.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28625" y="4245787"/>
            <a:ext cx="4000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AI-Driven Detection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4608333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Exploring artificial intelligence to proactively identify emerging vulnerabilities within infrastructure code.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5554154"/>
            <a:ext cx="4000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Security-First Culture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5916699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Championing a hybrid role that bridges development and security for seamless organizational agility.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270443"/>
            <a:ext cx="3643313" cy="22145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4875" y="3599306"/>
            <a:ext cx="4000500" cy="41790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Integrating Compliance &amp; Architecture into the DevSecOps Cycle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International Mobility Strategy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413318"/>
            <a:ext cx="4800600" cy="4000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 strategic lever to gain a global perspective on security standards and exchange value with world industry leaders.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42913" y="1999106"/>
            <a:ext cx="1385888" cy="35361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3"/>
          <p:cNvSpPr/>
          <p:nvPr/>
        </p:nvSpPr>
        <p:spPr>
          <a:xfrm>
            <a:off x="1800225" y="1999106"/>
            <a:ext cx="28575" cy="3536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442913" y="1999106"/>
            <a:ext cx="138588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Target Region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1828800" y="1999106"/>
            <a:ext cx="3386138" cy="3536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1999106"/>
            <a:ext cx="338613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Strategic Rationale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42913" y="2352722"/>
            <a:ext cx="1385888" cy="537177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1800225" y="2352722"/>
            <a:ext cx="28575" cy="5371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2913" y="2875611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2913" y="2352722"/>
            <a:ext cx="1385888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North America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1828800" y="2352722"/>
            <a:ext cx="3386138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Immersion in the ecosystem of major Cloud Service Providers (CSPs) and radical innovation hubs.</a:t>
            </a:r>
            <a:endParaRPr lang="en-US" sz="888" dirty="0"/>
          </a:p>
        </p:txBody>
      </p:sp>
      <p:sp>
        <p:nvSpPr>
          <p:cNvPr id="15" name="Shape 12"/>
          <p:cNvSpPr/>
          <p:nvPr/>
        </p:nvSpPr>
        <p:spPr>
          <a:xfrm>
            <a:off x="442913" y="2889898"/>
            <a:ext cx="1385888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800225" y="2889898"/>
            <a:ext cx="28575" cy="54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442913" y="3419931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42913" y="2889898"/>
            <a:ext cx="1385888" cy="5443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Northern Europe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1828800" y="2889898"/>
            <a:ext cx="3386138" cy="5443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Mastery of the world's strictest security and data protection standards (NIS2, GDPR).</a:t>
            </a:r>
            <a:endParaRPr lang="en-US" sz="888" dirty="0"/>
          </a:p>
        </p:txBody>
      </p:sp>
      <p:sp>
        <p:nvSpPr>
          <p:cNvPr id="20" name="Shape 17"/>
          <p:cNvSpPr/>
          <p:nvPr/>
        </p:nvSpPr>
        <p:spPr>
          <a:xfrm>
            <a:off x="442913" y="3434218"/>
            <a:ext cx="1385888" cy="55146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800225" y="3434218"/>
            <a:ext cx="28575" cy="551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442913" y="3971395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442913" y="3434218"/>
            <a:ext cx="1385888" cy="55146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Value Exchange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1814513" y="3434218"/>
            <a:ext cx="3400425" cy="55146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Bringing a dual-engineer culture and high agency to global teams while gaining world-class expertise.</a:t>
            </a:r>
            <a:endParaRPr lang="en-US" sz="888" dirty="0"/>
          </a:p>
        </p:txBody>
      </p:sp>
      <p:sp>
        <p:nvSpPr>
          <p:cNvPr id="25" name="Shape 22"/>
          <p:cNvSpPr/>
          <p:nvPr/>
        </p:nvSpPr>
        <p:spPr>
          <a:xfrm rot="-60000">
            <a:off x="5532972" y="1437658"/>
            <a:ext cx="2800350" cy="1255121"/>
          </a:xfrm>
          <a:prstGeom prst="rect">
            <a:avLst/>
          </a:prstGeom>
          <a:solidFill>
            <a:srgbClr val="FF0055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-60000">
            <a:off x="5679503" y="1585878"/>
            <a:ext cx="11000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Strategic Goal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 rot="-60000">
            <a:off x="5689698" y="1974074"/>
            <a:ext cx="2857500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Creating a sustainable value bridge between international standards and local digital sovereignty needs.</a:t>
            </a:r>
            <a:endParaRPr lang="en-US" sz="109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707" y="2918335"/>
            <a:ext cx="3208918" cy="17932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660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High Agency: Proactivity &amp; Momentum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870518"/>
            <a:ext cx="3143250" cy="205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94" b="1" dirty="0">
                <a:solidFill>
                  <a:srgbClr val="FF0055"/>
                </a:solidFill>
              </a:rPr>
              <a:t>Self-Direction as a Growth Engine.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4156435"/>
            <a:ext cx="3143250" cy="1100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The success of my Odyssey plans is underpinned by constant initiative, moving beyond the academic curriculum to build world-class field expertise.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4000500" y="1413318"/>
            <a:ext cx="2250281" cy="240563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43375" y="1684781"/>
            <a:ext cx="19645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CFF"/>
                </a:solidFill>
              </a:rPr>
              <a:t>Certifications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143375" y="2074115"/>
            <a:ext cx="19645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Active Pipeline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429125" y="2475951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AWS Solutions Architect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429125" y="2713118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Cisco CCNA (Networks)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429125" y="2950285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Web PenTester (HTB)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6465094" y="1413318"/>
            <a:ext cx="2250281" cy="240563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7969" y="1684781"/>
            <a:ext cx="19645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CFF"/>
                </a:solidFill>
              </a:rPr>
              <a:t>Engagement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607969" y="2074115"/>
            <a:ext cx="19645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Community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893719" y="2475951"/>
            <a:ext cx="1678781" cy="360034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Tech Watch &amp; Vulnerabilities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893719" y="2893135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Bug Bounty &amp; Open Source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893719" y="3130302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Global Networking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000500" y="3796094"/>
            <a:ext cx="4714875" cy="2232757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14813" y="4124706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CCFF"/>
                </a:solidFill>
              </a:rPr>
              <a:t>Next Crucial Step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214813" y="4508683"/>
            <a:ext cx="4286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Securing a high-impact final internship in an international environment (Cloud Security / DevSecOps).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E02827-B464-4C5E-931C-5E5F66EDF2A5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608</Words>
  <Application>Microsoft Office PowerPoint</Application>
  <PresentationFormat>On-screen Show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AYMEN</cp:lastModifiedBy>
  <cp:revision>2</cp:revision>
  <dcterms:created xsi:type="dcterms:W3CDTF">2025-12-28T00:39:59Z</dcterms:created>
  <dcterms:modified xsi:type="dcterms:W3CDTF">2025-12-28T01:21:26Z</dcterms:modified>
</cp:coreProperties>
</file>